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733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4017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7779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90920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93018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2051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51254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17513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401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8772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1280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8763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269870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8002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775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84422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15516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75961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943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32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5212080"/>
            <a:ext cx="411480" cy="41148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5212080"/>
            <a:ext cx="411480" cy="411480"/>
          </a:xfrm>
          <a:prstGeom prst="ellipse">
            <a:avLst/>
          </a:prstGeom>
          <a:solidFill>
            <a:srgbClr val="F4F7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5212080"/>
            <a:ext cx="411480" cy="411480"/>
          </a:xfrm>
          <a:prstGeom prst="ellipse">
            <a:avLst/>
          </a:prstGeom>
          <a:solidFill>
            <a:srgbClr val="F4F7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21240" y="5212080"/>
            <a:ext cx="411480" cy="411480"/>
          </a:xfrm>
          <a:prstGeom prst="ellipse">
            <a:avLst/>
          </a:prstGeom>
          <a:solidFill>
            <a:srgbClr val="F4F7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5212080"/>
            <a:ext cx="411480" cy="411480"/>
          </a:xfrm>
          <a:prstGeom prst="ellipse">
            <a:avLst/>
          </a:prstGeom>
          <a:solidFill>
            <a:srgbClr val="F4F7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4922" y="2283953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kern="0" spc="400" dirty="0">
                <a:solidFill>
                  <a:srgbClr val="1C72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CSA0310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5820" y="2968388"/>
            <a:ext cx="9875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Data Structure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Printer Spooling System</a:t>
            </a:r>
            <a:endParaRPr lang="en-US" sz="4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EED3A3-9A67-1213-E9BC-7AA1A488A745}"/>
              </a:ext>
            </a:extLst>
          </p:cNvPr>
          <p:cNvSpPr txBox="1"/>
          <p:nvPr/>
        </p:nvSpPr>
        <p:spPr>
          <a:xfrm>
            <a:off x="886195" y="5459083"/>
            <a:ext cx="51465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K.ARCHANA(192524209)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362D1F99-4679-3E4D-0813-5511C2372B0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519084" cy="1086510"/>
          </a:xfrm>
          <a:prstGeom prst="rect">
            <a:avLst/>
          </a:prstGeom>
        </p:spPr>
      </p:pic>
      <p:pic>
        <p:nvPicPr>
          <p:cNvPr id="15" name="object 4">
            <a:extLst>
              <a:ext uri="{FF2B5EF4-FFF2-40B4-BE49-F238E27FC236}">
                <a16:creationId xmlns:a16="http://schemas.microsoft.com/office/drawing/2014/main" id="{76E21AFD-C845-93D8-4A84-C3BC8CEEF02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74824" y="24038"/>
            <a:ext cx="1538190" cy="1096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Abstract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4206240"/>
          </a:xfrm>
          <a:prstGeom prst="roundRect">
            <a:avLst>
              <a:gd name="adj" fmla="val 3043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554480"/>
            <a:ext cx="73152" cy="35661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554480"/>
            <a:ext cx="10149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Printers receive requests from multiple users and applications, often arriving faster than jobs can be completed. This presentation examines the data-structure requirements of a print spooler — namely, that jobs must be served in the exact order they are received — and evaluates common candidate structures (array, stack, linked list, and queue) against that requirement. We show that a Queue, built on the First-In-First-Out (FIFO) principle, satisfies the fairness and ordering constraints of print scheduling while offering constant-time O(1) enqueue and dequeue operations. The analysis concludes that a Queue, implemented as a circular array or a linked list with head and tail pointers, is the most appropriate data structure for managing a printer's job queue.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5C8A34FC-FBE6-4A7D-6D85-795CD37099F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519084" cy="1086510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E39FC67D-87EE-FAA0-C95F-53B12393D13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74824" y="10390"/>
            <a:ext cx="1538190" cy="1096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Introduction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print spooler is the software layer that sits between applications and a physical printer. When a document is sent to print, it isn't printed instantly — it is placed into a waiting list managed by the operating system, then released to the printer one job at a time.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Because several users or applications can submit jobs at once, the spooler needs a data structure that decides which job goes next. That choice directly determines whether the system feels fair, predictable, and responsive — or chaotic and unpredictable.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309360" y="169164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37960" y="1892808"/>
            <a:ext cx="82296" cy="640080"/>
          </a:xfrm>
          <a:prstGeom prst="roundRect">
            <a:avLst>
              <a:gd name="adj" fmla="val 4444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1801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Common expectation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12280" y="2103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First come,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first served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9360" y="297180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3172968"/>
            <a:ext cx="82296" cy="640080"/>
          </a:xfrm>
          <a:prstGeom prst="roundRect">
            <a:avLst>
              <a:gd name="adj" fmla="val 4444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30815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 arrival pattern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12280" y="3383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Multiple sources,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any time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09360" y="425196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4453128"/>
            <a:ext cx="82296" cy="640080"/>
          </a:xfrm>
          <a:prstGeom prst="roundRect">
            <a:avLst>
              <a:gd name="adj" fmla="val 4444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3616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goal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12280" y="4663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Fair · Predictable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· Fast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object 3">
            <a:extLst>
              <a:ext uri="{FF2B5EF4-FFF2-40B4-BE49-F238E27FC236}">
                <a16:creationId xmlns:a16="http://schemas.microsoft.com/office/drawing/2014/main" id="{78CC8C71-78B2-23AA-966E-25A3797A23B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519084" cy="1086510"/>
          </a:xfrm>
          <a:prstGeom prst="rect">
            <a:avLst/>
          </a:prstGeom>
        </p:spPr>
      </p:pic>
      <p:pic>
        <p:nvPicPr>
          <p:cNvPr id="22" name="object 4">
            <a:extLst>
              <a:ext uri="{FF2B5EF4-FFF2-40B4-BE49-F238E27FC236}">
                <a16:creationId xmlns:a16="http://schemas.microsoft.com/office/drawing/2014/main" id="{9FEB6EC2-B70D-879D-6DA8-52BF7A5E88E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74824" y="10390"/>
            <a:ext cx="1538190" cy="1096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Problem</a:t>
            </a:r>
            <a:endParaRPr lang="en-US" sz="26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the system must guarantee: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2386584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2585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job is served exactly once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68680" y="3008376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88036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Jobs print in the same order requests are received (fairness)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3630168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50215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New jobs can arrive at any time, even mid-print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8680" y="4251960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12394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oldest waiting job is always processed next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8680" y="4873752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74573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job should ever jump ahead of one submitted earlier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852160" y="15544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Jobs arriving at the printer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852160" y="2194560"/>
            <a:ext cx="123444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19456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 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(1st)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86600" y="2194560"/>
            <a:ext cx="320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6B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06640" y="2194560"/>
            <a:ext cx="123444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19456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 B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(2nd)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41080" y="2194560"/>
            <a:ext cx="320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6B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961120" y="2194560"/>
            <a:ext cx="123444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0" y="219456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 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(3rd)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195560" y="2194560"/>
            <a:ext cx="320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6B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515600" y="2194560"/>
            <a:ext cx="123444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0" y="219456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 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(4th)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75020" y="4219956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B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Printer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852160" y="4544568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4480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🖨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46520" y="3429000"/>
            <a:ext cx="0" cy="822960"/>
          </a:xfrm>
          <a:prstGeom prst="line">
            <a:avLst/>
          </a:prstGeom>
          <a:noFill/>
          <a:ln w="25400">
            <a:solidFill>
              <a:srgbClr val="065A82"/>
            </a:solidFill>
            <a:prstDash val="dash"/>
            <a:tailEnd type="triangle"/>
          </a:ln>
        </p:spPr>
      </p:sp>
      <p:pic>
        <p:nvPicPr>
          <p:cNvPr id="34" name="object 3">
            <a:extLst>
              <a:ext uri="{FF2B5EF4-FFF2-40B4-BE49-F238E27FC236}">
                <a16:creationId xmlns:a16="http://schemas.microsoft.com/office/drawing/2014/main" id="{BFEE9B94-32C5-6D05-DEE2-A4086BD66E3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519084" cy="1086510"/>
          </a:xfrm>
          <a:prstGeom prst="rect">
            <a:avLst/>
          </a:prstGeom>
        </p:spPr>
      </p:pic>
      <p:pic>
        <p:nvPicPr>
          <p:cNvPr id="36" name="object 4">
            <a:extLst>
              <a:ext uri="{FF2B5EF4-FFF2-40B4-BE49-F238E27FC236}">
                <a16:creationId xmlns:a16="http://schemas.microsoft.com/office/drawing/2014/main" id="{C612C2CE-2ED6-72B8-5E73-F11356C5220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74824" y="10390"/>
            <a:ext cx="1538190" cy="1096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Candidate Data Structures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4F7F9"/>
          </a:solidFill>
          <a:ln w="12700">
            <a:solidFill>
              <a:srgbClr val="E0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Array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(fixed)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2423160" cy="411480"/>
          </a:xfrm>
          <a:prstGeom prst="roundRect">
            <a:avLst>
              <a:gd name="adj" fmla="val 17778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060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Removing the front item shifts every other element — costly for frequent jobs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4F7F9"/>
          </a:solidFill>
          <a:ln w="12700">
            <a:solidFill>
              <a:srgbClr val="E0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7830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Stack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(LIFO)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520440" y="2606040"/>
            <a:ext cx="2423160" cy="411480"/>
          </a:xfrm>
          <a:prstGeom prst="roundRect">
            <a:avLst>
              <a:gd name="adj" fmla="val 17778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6060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Wrong order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20440" y="3200400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Last job in would print first — newest requests unfairly jump the line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4F7F9"/>
          </a:solidFill>
          <a:ln w="12700">
            <a:solidFill>
              <a:srgbClr val="E0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7830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Linked List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(unordered)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55080" y="2606040"/>
            <a:ext cx="2423160" cy="411480"/>
          </a:xfrm>
          <a:prstGeom prst="roundRect">
            <a:avLst>
              <a:gd name="adj" fmla="val 17778"/>
            </a:avLst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6060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Needs discipline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55080" y="3200400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Works only if restricted to insert-at-tail, remove-at-head access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5400000" algn="bl" rotWithShape="0">
              <a:srgbClr val="1E2761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89720" y="17830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Queue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(FIFO)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189720" y="2606040"/>
            <a:ext cx="24231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26060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89720" y="3200400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E8EE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Insert at rear, remove from front — exactly matches arrival order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object 3">
            <a:extLst>
              <a:ext uri="{FF2B5EF4-FFF2-40B4-BE49-F238E27FC236}">
                <a16:creationId xmlns:a16="http://schemas.microsoft.com/office/drawing/2014/main" id="{F058E1F1-6E2F-8775-791C-F06BEA973FA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519084" cy="1086510"/>
          </a:xfrm>
          <a:prstGeom prst="rect">
            <a:avLst/>
          </a:prstGeom>
        </p:spPr>
      </p:pic>
      <p:pic>
        <p:nvPicPr>
          <p:cNvPr id="27" name="object 4">
            <a:extLst>
              <a:ext uri="{FF2B5EF4-FFF2-40B4-BE49-F238E27FC236}">
                <a16:creationId xmlns:a16="http://schemas.microsoft.com/office/drawing/2014/main" id="{0689C83D-BA8A-4A3E-B0B3-037BE50DF23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74824" y="10390"/>
            <a:ext cx="1538190" cy="1096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3429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Use a Queue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38941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queue only allows insertion at the rear (enqueue) and removal from the front (dequeue). That single restriction is exactly the guarantee the printer needs: whichever job arrived first is the job that leaves first.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1059" y="3191529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" y="3140725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Enqueue (rear)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078480" y="3234519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B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New print job joins the back of the line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0060" y="3897015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" y="3842305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Dequeue (front)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40379" y="4011315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B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Printer pulls the oldest job to print next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8646" y="4781493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" y="4690053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O(1) operations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040379" y="4974609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B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Both actions are constant-time with a linked list or circular array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633494" y="2286000"/>
            <a:ext cx="5212080" cy="283464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377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875520" y="2377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58000" y="2788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788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882128" y="2788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82128" y="2788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906256" y="2788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06256" y="2788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930384" y="2788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30384" y="2788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223760" y="3886200"/>
            <a:ext cx="0" cy="36576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537960" y="42793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dequeue → printed next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698480" y="3886200"/>
            <a:ext cx="0" cy="36576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headEnd type="triangle"/>
          </a:ln>
        </p:spPr>
      </p:sp>
      <p:sp>
        <p:nvSpPr>
          <p:cNvPr id="29" name="Text 27"/>
          <p:cNvSpPr/>
          <p:nvPr/>
        </p:nvSpPr>
        <p:spPr>
          <a:xfrm>
            <a:off x="10058400" y="42793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enqueue ← new job arrives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object 3">
            <a:extLst>
              <a:ext uri="{FF2B5EF4-FFF2-40B4-BE49-F238E27FC236}">
                <a16:creationId xmlns:a16="http://schemas.microsoft.com/office/drawing/2014/main" id="{77E3F50C-A2EA-F3E9-537B-8CCEDB02301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519084" cy="1086510"/>
          </a:xfrm>
          <a:prstGeom prst="rect">
            <a:avLst/>
          </a:prstGeom>
        </p:spPr>
      </p:pic>
      <p:pic>
        <p:nvPicPr>
          <p:cNvPr id="33" name="object 4">
            <a:extLst>
              <a:ext uri="{FF2B5EF4-FFF2-40B4-BE49-F238E27FC236}">
                <a16:creationId xmlns:a16="http://schemas.microsoft.com/office/drawing/2014/main" id="{A730A685-EB4A-7E4C-C221-05ED29CF7B4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74824" y="10390"/>
            <a:ext cx="1538190" cy="1096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How the Spooler Uses the Queue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2880360"/>
          </a:xfrm>
          <a:prstGeom prst="roundRect">
            <a:avLst>
              <a:gd name="adj" fmla="val 381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00" cy="594360"/>
          </a:xfrm>
          <a:prstGeom prst="roundRect">
            <a:avLst>
              <a:gd name="adj" fmla="val 1846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548640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New job submitted → enqueue()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8720" y="230428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sends a document to print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2990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29626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 is appended to the rear of the queue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36484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88720" y="36210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 waits its turn — order preserved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5486400" cy="2880360"/>
          </a:xfrm>
          <a:prstGeom prst="roundRect">
            <a:avLst>
              <a:gd name="adj" fmla="val 381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554480"/>
            <a:ext cx="5486400" cy="594360"/>
          </a:xfrm>
          <a:prstGeom prst="roundRect">
            <a:avLst>
              <a:gd name="adj" fmla="val 1846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874520"/>
            <a:ext cx="54864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5544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Printer is free → dequeue()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3796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49440" y="230428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Printer checks the front of the queue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37960" y="2990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49440" y="29626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 job is removed and printed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37960" y="36484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49440" y="36210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Next job automatically becomes the new front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892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invariant preserved automatically: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4400" y="5411337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E8EE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Because insertion only happens at the rear and removal only happens at the front, the relative order of any two jobs can never change once they're in the queue.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object 4">
            <a:extLst>
              <a:ext uri="{FF2B5EF4-FFF2-40B4-BE49-F238E27FC236}">
                <a16:creationId xmlns:a16="http://schemas.microsoft.com/office/drawing/2014/main" id="{96891E4E-8155-41F0-6882-4E13C15128C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4824" y="10390"/>
            <a:ext cx="1538190" cy="1096900"/>
          </a:xfrm>
          <a:prstGeom prst="rect">
            <a:avLst/>
          </a:prstGeom>
        </p:spPr>
      </p:pic>
      <p:pic>
        <p:nvPicPr>
          <p:cNvPr id="30" name="object 3">
            <a:extLst>
              <a:ext uri="{FF2B5EF4-FFF2-40B4-BE49-F238E27FC236}">
                <a16:creationId xmlns:a16="http://schemas.microsoft.com/office/drawing/2014/main" id="{C63333DF-C35F-70E2-1A11-68073B4DFC1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519084" cy="10865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6628" y="12801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Performance at a Glance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198264"/>
              </p:ext>
            </p:extLst>
          </p:nvPr>
        </p:nvGraphicFramePr>
        <p:xfrm>
          <a:off x="316628" y="1362456"/>
          <a:ext cx="11064240" cy="2834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for the printer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enqueue(job)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document is added to the print 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oldest waiting job is sent to the printer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peek() / front()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which job is printing next, without removing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isEmpty()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Printer knows when to go idle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16628" y="4791456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2388" y="4956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Implementation note: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2388" y="5266944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circular array or a singly linked list with head and tail pointers both give O(1) enqueue and dequeue — either is a suitable underlying implementation.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029E6FF5-1D59-1E7B-943D-A92B70D2455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519084" cy="1086510"/>
          </a:xfrm>
          <a:prstGeom prst="rect">
            <a:avLst/>
          </a:prstGeom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33D31CF1-8D17-F046-BDC4-F10EDABA398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74824" y="10390"/>
            <a:ext cx="1538190" cy="1096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          Conclusion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 Queue is the right fit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3852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Matches the requirement exactly — requests are served in the order received (FIFO)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2679192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Simple, well-understood operations: enqueue and dequeue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3300984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18211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Constant-time O(1) performance, however many jobs are waiting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5800" y="3922776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80390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Naturally fair — no job can be skipped or reordered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503920" y="4526280"/>
            <a:ext cx="3017520" cy="1280160"/>
          </a:xfrm>
          <a:prstGeom prst="roundRect">
            <a:avLst>
              <a:gd name="adj" fmla="val 857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0" y="4754880"/>
            <a:ext cx="594360" cy="8229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754880"/>
            <a:ext cx="594360" cy="8229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0" y="4754880"/>
            <a:ext cx="594360" cy="8229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27080" y="4754880"/>
            <a:ext cx="594360" cy="8229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5715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printer ←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9E56A3B5-D3FF-A73B-614A-1EF3BD322F8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519084" cy="1086510"/>
          </a:xfrm>
          <a:prstGeom prst="rect">
            <a:avLst/>
          </a:prstGeom>
        </p:spPr>
      </p:pic>
      <p:pic>
        <p:nvPicPr>
          <p:cNvPr id="21" name="object 4">
            <a:extLst>
              <a:ext uri="{FF2B5EF4-FFF2-40B4-BE49-F238E27FC236}">
                <a16:creationId xmlns:a16="http://schemas.microsoft.com/office/drawing/2014/main" id="{DD4EB0A7-24FE-7824-3405-A6C1A092040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74824" y="10390"/>
            <a:ext cx="1538190" cy="1096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20</TotalTime>
  <Words>812</Words>
  <Application>Microsoft Office PowerPoint</Application>
  <PresentationFormat>Widescreen</PresentationFormat>
  <Paragraphs>124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</vt:lpstr>
      <vt:lpstr>Times New Roman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Archana Kandula</cp:lastModifiedBy>
  <cp:revision>2</cp:revision>
  <dcterms:created xsi:type="dcterms:W3CDTF">2026-07-22T05:04:09Z</dcterms:created>
  <dcterms:modified xsi:type="dcterms:W3CDTF">2026-08-05T04:42:16Z</dcterms:modified>
</cp:coreProperties>
</file>